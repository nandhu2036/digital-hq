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71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058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50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19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58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02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8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69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12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22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0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82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 anchor="b"/>
          <a:lstStyle/>
          <a:p>
            <a:r>
              <a:t>EcoFloat.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future of autonomous water telemetry.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Crisis.</a:t>
            </a:r>
          </a:p>
        </p:txBody>
      </p:sp>
      <p:graphicFrame>
        <p:nvGraphicFramePr>
          <p:cNvPr id="3" name="Content"/>
          <p:cNvGraphicFramePr>
            <a:graphicFrameLocks noGrp="1"/>
          </p:cNvGraphicFramePr>
          <p:nvPr>
            <p:ph idx="1"/>
          </p:nvPr>
        </p:nvGraphicFramePr>
        <p:xfrm>
          <a:off x="1450975" y="2016125"/>
          <a:ext cx="9604375" cy="3449638"/>
        </p:xfrm>
        <a:graphic>
          <a:graphicData uri="http://schemas.openxmlformats.org/drawingml/2006/table">
            <a:tbl>
              <a:tblPr firstRow="1" bandRow="1"/>
              <a:tblGrid>
                <a:gridCol w="960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Our waters are choking on invisible plastics and toxic algal blooms.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Current monitoring systems are stationary, expensive, and critically slow.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We need eyes on the water. Everywhere. All the time.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EcoFloat.</a:t>
            </a:r>
          </a:p>
        </p:txBody>
      </p:sp>
      <p:graphicFrame>
        <p:nvGraphicFramePr>
          <p:cNvPr id="3" name="Content"/>
          <p:cNvGraphicFramePr>
            <a:graphicFrameLocks noGrp="1"/>
          </p:cNvGraphicFramePr>
          <p:nvPr>
            <p:ph idx="1"/>
          </p:nvPr>
        </p:nvGraphicFramePr>
        <p:xfrm>
          <a:off x="1450975" y="2016125"/>
          <a:ext cx="9604375" cy="3449638"/>
        </p:xfrm>
        <a:graphic>
          <a:graphicData uri="http://schemas.openxmlformats.org/drawingml/2006/table">
            <a:tbl>
              <a:tblPr firstRow="1" bandRow="1"/>
              <a:tblGrid>
                <a:gridCol w="960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An autonomous, agile, surface vehicle.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Powered by real-time multispectral edge AI.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Built to map and classify water hazards at a fraction of the cost.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18-Band Multispectral Vision.</a:t>
            </a:r>
          </a:p>
        </p:txBody>
      </p:sp>
      <p:graphicFrame>
        <p:nvGraphicFramePr>
          <p:cNvPr id="3" name="Content"/>
          <p:cNvGraphicFramePr>
            <a:graphicFrameLocks noGrp="1"/>
          </p:cNvGraphicFramePr>
          <p:nvPr>
            <p:ph idx="1"/>
          </p:nvPr>
        </p:nvGraphicFramePr>
        <p:xfrm>
          <a:off x="1450975" y="2016125"/>
          <a:ext cx="9604375" cy="3449638"/>
        </p:xfrm>
        <a:graphic>
          <a:graphicData uri="http://schemas.openxmlformats.org/drawingml/2006/table">
            <a:tbl>
              <a:tblPr firstRow="1" bandRow="1"/>
              <a:tblGrid>
                <a:gridCol w="960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Equipped with the AS7265x optical payload.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Scanning wavelengths from 410nm to 940nm.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Detecting precise chlorophyll and polymer signatures instantly.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at the Edge.</a:t>
            </a:r>
          </a:p>
        </p:txBody>
      </p:sp>
      <p:graphicFrame>
        <p:nvGraphicFramePr>
          <p:cNvPr id="3" name="Content"/>
          <p:cNvGraphicFramePr>
            <a:graphicFrameLocks noGrp="1"/>
          </p:cNvGraphicFramePr>
          <p:nvPr>
            <p:ph idx="1"/>
          </p:nvPr>
        </p:nvGraphicFramePr>
        <p:xfrm>
          <a:off x="1450975" y="2016125"/>
          <a:ext cx="9604375" cy="3449638"/>
        </p:xfrm>
        <a:graphic>
          <a:graphicData uri="http://schemas.openxmlformats.org/drawingml/2006/table">
            <a:tbl>
              <a:tblPr firstRow="1" bandRow="1"/>
              <a:tblGrid>
                <a:gridCol w="960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Powered by an advanced RBF-SVM machine learning pipeline.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Achieving 98.2% global classification accuracy.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Zero cloud dependency. Instant localized telemetry via MQTT.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Agility.</a:t>
            </a:r>
          </a:p>
        </p:txBody>
      </p:sp>
      <p:graphicFrame>
        <p:nvGraphicFramePr>
          <p:cNvPr id="3" name="Content"/>
          <p:cNvGraphicFramePr>
            <a:graphicFrameLocks noGrp="1"/>
          </p:cNvGraphicFramePr>
          <p:nvPr>
            <p:ph idx="1"/>
          </p:nvPr>
        </p:nvGraphicFramePr>
        <p:xfrm>
          <a:off x="1450975" y="2016125"/>
          <a:ext cx="9604375" cy="3449638"/>
        </p:xfrm>
        <a:graphic>
          <a:graphicData uri="http://schemas.openxmlformats.org/drawingml/2006/table">
            <a:tbl>
              <a:tblPr firstRow="1" bandRow="1"/>
              <a:tblGrid>
                <a:gridCol w="960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Dual BLDC differential drive system.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Boustrophedon sweep coverage with 5-meter precision lanes.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Autonomous navigation guided by NEO-6M GPS.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Engineered for Stability.</a:t>
            </a:r>
          </a:p>
        </p:txBody>
      </p:sp>
      <p:graphicFrame>
        <p:nvGraphicFramePr>
          <p:cNvPr id="3" name="Content"/>
          <p:cNvGraphicFramePr>
            <a:graphicFrameLocks noGrp="1"/>
          </p:cNvGraphicFramePr>
          <p:nvPr>
            <p:ph idx="1"/>
          </p:nvPr>
        </p:nvGraphicFramePr>
        <p:xfrm>
          <a:off x="1450975" y="2016125"/>
          <a:ext cx="9604375" cy="3449638"/>
        </p:xfrm>
        <a:graphic>
          <a:graphicData uri="http://schemas.openxmlformats.org/drawingml/2006/table">
            <a:tbl>
              <a:tblPr firstRow="1" bandRow="1"/>
              <a:tblGrid>
                <a:gridCol w="960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Catamaran hull topology designed for turbulent waters.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0.67s settling time ensures 99.9% optical uptime.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Unmatched hydrodynamic resilience.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Relentless Endurance.</a:t>
            </a:r>
          </a:p>
        </p:txBody>
      </p:sp>
      <p:graphicFrame>
        <p:nvGraphicFramePr>
          <p:cNvPr id="3" name="Content"/>
          <p:cNvGraphicFramePr>
            <a:graphicFrameLocks noGrp="1"/>
          </p:cNvGraphicFramePr>
          <p:nvPr>
            <p:ph idx="1"/>
          </p:nvPr>
        </p:nvGraphicFramePr>
        <p:xfrm>
          <a:off x="1450975" y="2016125"/>
          <a:ext cx="9604375" cy="3449638"/>
        </p:xfrm>
        <a:graphic>
          <a:graphicData uri="http://schemas.openxmlformats.org/drawingml/2006/table">
            <a:tbl>
              <a:tblPr firstRow="1" bandRow="1"/>
              <a:tblGrid>
                <a:gridCol w="960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120 minutes of continuous autonomous mission time.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3S 5000mAh Li-ion battery core.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Smart phase-scheduled power distribution.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Disruptive Economics.</a:t>
            </a:r>
          </a:p>
        </p:txBody>
      </p:sp>
      <p:graphicFrame>
        <p:nvGraphicFramePr>
          <p:cNvPr id="3" name="Content"/>
          <p:cNvGraphicFramePr>
            <a:graphicFrameLocks noGrp="1"/>
          </p:cNvGraphicFramePr>
          <p:nvPr>
            <p:ph idx="1"/>
          </p:nvPr>
        </p:nvGraphicFramePr>
        <p:xfrm>
          <a:off x="1450975" y="2016125"/>
          <a:ext cx="9604375" cy="3449638"/>
        </p:xfrm>
        <a:graphic>
          <a:graphicData uri="http://schemas.openxmlformats.org/drawingml/2006/table">
            <a:tbl>
              <a:tblPr firstRow="1" bandRow="1"/>
              <a:tblGrid>
                <a:gridCol w="960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Traditional hyperspectral rigs cost upwards of $10,000.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EcoFloat achieves comparable granular telemetry with a sub-$200 (15k INR) BOM.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t>Democratizing environmental monitoring for municipalities globally.</a:t>
                      </a:r>
                    </a:p>
                  </a:txBody>
                  <a:tcPr marL="83516" marR="83516">
                    <a:lnL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1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 anchor="b"/>
          <a:lstStyle/>
          <a:p>
            <a:r>
              <a:t>EcoFloat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Intelligent. Autonomous. Essential.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271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EcoFloat.</vt:lpstr>
      <vt:lpstr>The Crisis.</vt:lpstr>
      <vt:lpstr>Meet EcoFloat.</vt:lpstr>
      <vt:lpstr>18-Band Multispectral Vision.</vt:lpstr>
      <vt:lpstr>Intelligence at the Edge.</vt:lpstr>
      <vt:lpstr>Autonomous Agility.</vt:lpstr>
      <vt:lpstr>Engineered for Stability.</vt:lpstr>
      <vt:lpstr>Relentless Endurance.</vt:lpstr>
      <vt:lpstr>Disruptive Economics.</vt:lpstr>
      <vt:lpstr>EcoFloat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2026-04-22T13:24:15Z</dcterms:modified>
</cp:coreProperties>
</file>