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1684-2714-77FF-4B42-07B7A745A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EFF2D-DD1C-E366-1544-32D3A35067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C8699-EAB5-ED9F-FF41-69184BE1F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B0376-BFAA-6E59-5E45-4EED6941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8D801-0AC2-6BE7-1ADD-3728EE46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52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AED1-5F14-9651-7BE0-8280097E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428E-6DF9-ACF7-A805-C47F39131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E5C96-DCF6-9014-7611-C4E1028F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E5A13-D85D-19E1-520D-96011A72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0B63D-F058-6917-C3C0-A9AC6179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841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05D63-9629-AFE1-FD45-DB8F0D11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422C6-B057-6406-AF34-19ED147E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0824E-C699-3FA2-081C-F2918354B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237FF-B4DB-7D5A-2FF8-D8A93660C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1F84A-BD79-4BAC-C547-A38EF402F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819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A2F99-4B35-194E-F95A-BCE19676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F637-52FC-B23A-854F-0A16D7BB3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1A3E4-7914-BE54-1915-6EDFA373E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23D88-372C-88BB-B381-2EB52C6C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98E46-B6CB-A141-B471-BE4ED533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A9DE0-B7B7-F1DA-3168-3A594DFC3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59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E4F8-1D12-ADD2-09DC-C3101B137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7E628-6207-5E19-F27A-7E229C487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E81B2-4EBA-C5AB-7BA5-AA1F1FC7B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89D4C2-9F3A-FFB0-4018-BDD338289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025FB-7396-DB0C-226C-98C76ACD97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EC10FF-5681-8DEA-2293-D23D9CCB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F515A-6E50-29F5-A355-F4665A0D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3E70A1-566E-8719-8213-970604DD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82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72AD-DC9B-CDFA-C7FE-442ECF1D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63272-942E-B175-4875-E9E0938D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BAB88-C1C9-BB45-A63A-F9044F5C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392E0-C2DF-116E-D004-4FDDEA40B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1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AD3358-DB83-A19A-E528-A257CAC0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DB912-F25D-5B35-2F7F-AF8CBD72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3AFD4-1749-A11A-590F-AE9B44B4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44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8F3C-94FA-B243-5C79-7025D945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D752B-A212-4331-3162-1CCA73B89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34402-CE6B-BFB1-5124-FA8FF2A1A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F2A26-CABB-43F3-C0C0-2AF7B313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8CC18-4996-46F4-AFA4-ACC46E07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2F425-520F-554F-0565-5731AB24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4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EC68-8523-A047-C041-295B429A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90CD8E-8BF5-132C-C633-5C97307B4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C3EDC-74C1-FF0A-7FAF-1B5E1F765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C6E5B-08CD-6A48-21FA-0A156B03A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49F2C-4187-AA9C-C8F7-7F591BF24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27328-FC65-70E2-7D34-4D1F3E3D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26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FA28-6069-373C-694A-31C20860C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08AC8-EF04-919B-5BEC-ABB5FB7D8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216B9-3758-6E1B-3E3D-49DC67DB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9242C-2B48-2680-F65D-11841D0AA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A3986-F3F7-027A-5E73-FBD91EA3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41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4F37B-74B8-7928-B513-6DC59471F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C944D-6B24-6FBB-E996-EF39876B1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D1B09-3841-3228-695A-BD219CE4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D1656-51F2-39B4-5844-E57816F0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8D440-0B34-25DB-9E3A-2FC8A089C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42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8DEB01-6EC8-A046-BBB7-7A49C6CF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1E8C8-02B6-05B2-0843-8756066A5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456A-326B-ADEB-5B2C-D7A455355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DD659-04C8-492B-8991-41E3E299E462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A7DA5-EAED-9303-FB34-1AD8890B5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EE431-5337-9E4A-92A0-2AAD5B634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70030-B9CF-4308-85EC-739F6B220D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728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0FD57B-9B8A-BFB8-3A8D-7F4B728596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8B376-89C6-C69B-0C55-FC6D9A3DFC4F}"/>
              </a:ext>
            </a:extLst>
          </p:cNvPr>
          <p:cNvSpPr txBox="1"/>
          <p:nvPr/>
        </p:nvSpPr>
        <p:spPr>
          <a:xfrm>
            <a:off x="1270000" y="2286000"/>
            <a:ext cx="10160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7200" b="1">
                <a:solidFill>
                  <a:srgbClr val="45A3D4"/>
                </a:solidFill>
                <a:latin typeface="Segoe UI" panose="020B0502040204020203" pitchFamily="34" charset="0"/>
              </a:rPr>
              <a:t>ECO-FLOAT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A65AD-BEC9-421F-5CE9-0E4F9C982772}"/>
              </a:ext>
            </a:extLst>
          </p:cNvPr>
          <p:cNvSpPr txBox="1"/>
          <p:nvPr/>
        </p:nvSpPr>
        <p:spPr>
          <a:xfrm>
            <a:off x="1270000" y="3556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>
                <a:solidFill>
                  <a:srgbClr val="E1D5CB"/>
                </a:solidFill>
                <a:latin typeface="Segoe UI" panose="020B0502040204020203" pitchFamily="34" charset="0"/>
              </a:rPr>
              <a:t>Multispectral Edge Analytics &amp; Autonomous Mission Telemetry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08433E-40EB-B166-6077-0880AA3D158B}"/>
              </a:ext>
            </a:extLst>
          </p:cNvPr>
          <p:cNvSpPr/>
          <p:nvPr/>
        </p:nvSpPr>
        <p:spPr>
          <a:xfrm>
            <a:off x="1270000" y="4318000"/>
            <a:ext cx="1905000" cy="63500"/>
          </a:xfrm>
          <a:prstGeom prst="rect">
            <a:avLst/>
          </a:prstGeom>
          <a:solidFill>
            <a:srgbClr val="45A3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966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D2202C-05F7-B84A-ACBD-D13B89BFD1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DE0C9-08D5-9074-41D2-C9F9A1E10305}"/>
              </a:ext>
            </a:extLst>
          </p:cNvPr>
          <p:cNvSpPr txBox="1"/>
          <p:nvPr/>
        </p:nvSpPr>
        <p:spPr>
          <a:xfrm>
            <a:off x="635000" y="508000"/>
            <a:ext cx="1016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FFFFFF"/>
                </a:solidFill>
                <a:latin typeface="Segoe UI" panose="020B0502040204020203" pitchFamily="34" charset="0"/>
              </a:rPr>
              <a:t>THE CHALLENGE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74DFA7-EE9F-81D3-A83C-F14E14A103C7}"/>
              </a:ext>
            </a:extLst>
          </p:cNvPr>
          <p:cNvSpPr/>
          <p:nvPr/>
        </p:nvSpPr>
        <p:spPr>
          <a:xfrm>
            <a:off x="635000" y="1270000"/>
            <a:ext cx="1270000" cy="38100"/>
          </a:xfrm>
          <a:prstGeom prst="rect">
            <a:avLst/>
          </a:prstGeom>
          <a:solidFill>
            <a:srgbClr val="45A3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742FAE-E03B-C0FC-986E-E8116A6986BE}"/>
              </a:ext>
            </a:extLst>
          </p:cNvPr>
          <p:cNvSpPr/>
          <p:nvPr/>
        </p:nvSpPr>
        <p:spPr>
          <a:xfrm>
            <a:off x="635000" y="1778000"/>
            <a:ext cx="5080000" cy="3810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ABAC1-4C83-F98C-1E85-4B703E7A3567}"/>
              </a:ext>
            </a:extLst>
          </p:cNvPr>
          <p:cNvSpPr txBox="1"/>
          <p:nvPr/>
        </p:nvSpPr>
        <p:spPr>
          <a:xfrm>
            <a:off x="889000" y="2032000"/>
            <a:ext cx="457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45A3D4"/>
                </a:solidFill>
                <a:latin typeface="Segoe UI" panose="020B0502040204020203" pitchFamily="34" charset="0"/>
              </a:rPr>
              <a:t>Environmental 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43B0C-6516-C11F-4215-C8BA01A6B6C0}"/>
              </a:ext>
            </a:extLst>
          </p:cNvPr>
          <p:cNvSpPr txBox="1"/>
          <p:nvPr/>
        </p:nvSpPr>
        <p:spPr>
          <a:xfrm>
            <a:off x="889000" y="2667000"/>
            <a:ext cx="4572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FFFFF"/>
                </a:solidFill>
                <a:latin typeface="Segoe UI" panose="020B0502040204020203" pitchFamily="34" charset="0"/>
              </a:rPr>
              <a:t>â€¢ Rapid proliferation of toxic algal blooms (Chl-a).
â€¢ Influx of synthetic floating polymers.
â€¢ Threat to aquatic ecosystems and municipal drinking water supplies.
â€¢ Current ecological monitoring is critically slow.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BEA304-23C2-379F-152B-772030787C04}"/>
              </a:ext>
            </a:extLst>
          </p:cNvPr>
          <p:cNvSpPr/>
          <p:nvPr/>
        </p:nvSpPr>
        <p:spPr>
          <a:xfrm>
            <a:off x="6096000" y="1778000"/>
            <a:ext cx="5080000" cy="3810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7A45B-EAEE-3D09-EF25-8368D2607452}"/>
              </a:ext>
            </a:extLst>
          </p:cNvPr>
          <p:cNvSpPr txBox="1"/>
          <p:nvPr/>
        </p:nvSpPr>
        <p:spPr>
          <a:xfrm>
            <a:off x="6350000" y="2032000"/>
            <a:ext cx="457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45A3D4"/>
                </a:solidFill>
                <a:latin typeface="Segoe UI" panose="020B0502040204020203" pitchFamily="34" charset="0"/>
              </a:rPr>
              <a:t>Technological Limitations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1132F-7AF9-377C-0FD7-036314038401}"/>
              </a:ext>
            </a:extLst>
          </p:cNvPr>
          <p:cNvSpPr txBox="1"/>
          <p:nvPr/>
        </p:nvSpPr>
        <p:spPr>
          <a:xfrm>
            <a:off x="6350000" y="2667000"/>
            <a:ext cx="4572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Segoe UI" panose="020B0502040204020203" pitchFamily="34" charset="0"/>
              </a:rPr>
              <a:t>â€¢ Current solutions are stationary and lack spatial granularity.
â€¢ Hyperspectral drones cost upwards of ,000.
â€¢ High latency in data processing.
â€¢ Reliance on cloud infrastructure limits remote deployment.</a:t>
            </a:r>
            <a:endParaRPr lang="en-IN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617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A7F5CF-6F6A-AF15-948E-CDCD282CB3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37F66-5A77-34D3-1D07-BBE96864AFF1}"/>
              </a:ext>
            </a:extLst>
          </p:cNvPr>
          <p:cNvSpPr txBox="1"/>
          <p:nvPr/>
        </p:nvSpPr>
        <p:spPr>
          <a:xfrm>
            <a:off x="635000" y="508000"/>
            <a:ext cx="1016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FFFFFF"/>
                </a:solidFill>
                <a:latin typeface="Segoe UI" panose="020B0502040204020203" pitchFamily="34" charset="0"/>
              </a:rPr>
              <a:t>SYSTEM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25573D-FB39-7C87-443E-8F93E54C3775}"/>
              </a:ext>
            </a:extLst>
          </p:cNvPr>
          <p:cNvSpPr/>
          <p:nvPr/>
        </p:nvSpPr>
        <p:spPr>
          <a:xfrm>
            <a:off x="635000" y="1270000"/>
            <a:ext cx="1270000" cy="38100"/>
          </a:xfrm>
          <a:prstGeom prst="rect">
            <a:avLst/>
          </a:prstGeom>
          <a:solidFill>
            <a:srgbClr val="45A3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2C8C8-3CCA-D722-DC83-A2B66E5E9ECE}"/>
              </a:ext>
            </a:extLst>
          </p:cNvPr>
          <p:cNvSpPr txBox="1"/>
          <p:nvPr/>
        </p:nvSpPr>
        <p:spPr>
          <a:xfrm>
            <a:off x="635000" y="17780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b="1">
                <a:solidFill>
                  <a:srgbClr val="FFFFFF"/>
                </a:solidFill>
                <a:latin typeface="Segoe UI" panose="020B0502040204020203" pitchFamily="34" charset="0"/>
              </a:rPr>
              <a:t>Edge Controller: ESP32 / Arduino Mega (I2C polling, MQTT)</a:t>
            </a:r>
            <a:endParaRPr lang="en-IN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3934A-9AFF-F93C-26C9-96A55C7CC6B9}"/>
              </a:ext>
            </a:extLst>
          </p:cNvPr>
          <p:cNvSpPr txBox="1"/>
          <p:nvPr/>
        </p:nvSpPr>
        <p:spPr>
          <a:xfrm>
            <a:off x="635000" y="24130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b="1">
                <a:solidFill>
                  <a:srgbClr val="FFFFFF"/>
                </a:solidFill>
                <a:latin typeface="Segoe UI" panose="020B0502040204020203" pitchFamily="34" charset="0"/>
              </a:rPr>
              <a:t>Optical Payload: AS7265x (18-channel spectral fingerprint capture)</a:t>
            </a:r>
            <a:endParaRPr lang="en-IN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77A4A-2B63-3976-FC69-D09C212BADF1}"/>
              </a:ext>
            </a:extLst>
          </p:cNvPr>
          <p:cNvSpPr txBox="1"/>
          <p:nvPr/>
        </p:nvSpPr>
        <p:spPr>
          <a:xfrm>
            <a:off x="635000" y="3048000"/>
            <a:ext cx="635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b="1">
                <a:solidFill>
                  <a:srgbClr val="FFFFFF"/>
                </a:solidFill>
                <a:latin typeface="Segoe UI" panose="020B0502040204020203" pitchFamily="34" charset="0"/>
              </a:rPr>
              <a:t>Propulsion: Dual BLDC differential drive (cruise + scan turns)</a:t>
            </a:r>
            <a:endParaRPr lang="en-IN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68B5F-E961-EA17-CCFD-7B4B4DC05FD5}"/>
              </a:ext>
            </a:extLst>
          </p:cNvPr>
          <p:cNvSpPr txBox="1"/>
          <p:nvPr/>
        </p:nvSpPr>
        <p:spPr>
          <a:xfrm>
            <a:off x="635000" y="3683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Positioning: NEO-6M GPS waypointing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D4990-D8CD-2036-50C0-F35627791B6D}"/>
              </a:ext>
            </a:extLst>
          </p:cNvPr>
          <p:cNvSpPr txBox="1"/>
          <p:nvPr/>
        </p:nvSpPr>
        <p:spPr>
          <a:xfrm>
            <a:off x="635000" y="43180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b="1">
                <a:solidFill>
                  <a:srgbClr val="FFFFFF"/>
                </a:solidFill>
                <a:latin typeface="Segoe UI" panose="020B0502040204020203" pitchFamily="34" charset="0"/>
              </a:rPr>
              <a:t>Power Bus: 3S Li-ion 5000 mAh</a:t>
            </a:r>
            <a:endParaRPr lang="en-IN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F77DF5-4A09-AD91-8916-A30A2D351E1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7780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9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5A5474-483F-3AF3-BFA0-DCCB034EF4E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8EDA45-132C-E2C0-BDA9-E88E27A71D4A}"/>
              </a:ext>
            </a:extLst>
          </p:cNvPr>
          <p:cNvSpPr txBox="1"/>
          <p:nvPr/>
        </p:nvSpPr>
        <p:spPr>
          <a:xfrm>
            <a:off x="635000" y="508000"/>
            <a:ext cx="1016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FFFFFF"/>
                </a:solidFill>
                <a:latin typeface="Segoe UI" panose="020B0502040204020203" pitchFamily="34" charset="0"/>
              </a:rPr>
              <a:t>OPTICAL ANALYTICS &amp; ML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34AC39-16C5-C5F9-1349-DAD2D241FB48}"/>
              </a:ext>
            </a:extLst>
          </p:cNvPr>
          <p:cNvSpPr/>
          <p:nvPr/>
        </p:nvSpPr>
        <p:spPr>
          <a:xfrm>
            <a:off x="635000" y="1270000"/>
            <a:ext cx="1270000" cy="38100"/>
          </a:xfrm>
          <a:prstGeom prst="rect">
            <a:avLst/>
          </a:prstGeom>
          <a:solidFill>
            <a:srgbClr val="45A3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9D397D-8CB6-966E-9541-CC9888211426}"/>
              </a:ext>
            </a:extLst>
          </p:cNvPr>
          <p:cNvSpPr/>
          <p:nvPr/>
        </p:nvSpPr>
        <p:spPr>
          <a:xfrm>
            <a:off x="635000" y="1778000"/>
            <a:ext cx="5080000" cy="3810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EEED7-E82F-58B8-9A6F-D7CF55C10FFB}"/>
              </a:ext>
            </a:extLst>
          </p:cNvPr>
          <p:cNvSpPr txBox="1"/>
          <p:nvPr/>
        </p:nvSpPr>
        <p:spPr>
          <a:xfrm>
            <a:off x="889000" y="2032000"/>
            <a:ext cx="457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45A3D4"/>
                </a:solidFill>
                <a:latin typeface="Segoe UI" panose="020B0502040204020203" pitchFamily="34" charset="0"/>
              </a:rPr>
              <a:t>Math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026C7-967C-4E4B-98E9-8D7746038B9C}"/>
              </a:ext>
            </a:extLst>
          </p:cNvPr>
          <p:cNvSpPr txBox="1"/>
          <p:nvPr/>
        </p:nvSpPr>
        <p:spPr>
          <a:xfrm>
            <a:off x="889000" y="2667000"/>
            <a:ext cx="4572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FFFFF"/>
                </a:solidFill>
                <a:latin typeface="Segoe UI" panose="020B0502040204020203" pitchFamily="34" charset="0"/>
              </a:rPr>
              <a:t>â€¢ Signal Preprocessing: SNV + Savitzky-Golay
â€¢ NDCI: (R730 - R680) / (R730 + R680)
â€¢ FDI extracted using 860nm &amp; 940nm baseline.
â€¢ Classes: Clean water, Algal bloom, Floating polymer.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283AB-A859-4A03-2C75-773923898262}"/>
              </a:ext>
            </a:extLst>
          </p:cNvPr>
          <p:cNvSpPr/>
          <p:nvPr/>
        </p:nvSpPr>
        <p:spPr>
          <a:xfrm>
            <a:off x="6096000" y="1778000"/>
            <a:ext cx="5080000" cy="3810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483BF2-6C95-D43B-FB59-EC9FBE448E36}"/>
              </a:ext>
            </a:extLst>
          </p:cNvPr>
          <p:cNvSpPr txBox="1"/>
          <p:nvPr/>
        </p:nvSpPr>
        <p:spPr>
          <a:xfrm>
            <a:off x="6350000" y="2032000"/>
            <a:ext cx="457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45A3D4"/>
                </a:solidFill>
                <a:latin typeface="Segoe UI" panose="020B0502040204020203" pitchFamily="34" charset="0"/>
              </a:rPr>
              <a:t>Validation Snapshot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B14F34-34C3-DE2B-D7D0-0F0550125D23}"/>
              </a:ext>
            </a:extLst>
          </p:cNvPr>
          <p:cNvSpPr txBox="1"/>
          <p:nvPr/>
        </p:nvSpPr>
        <p:spPr>
          <a:xfrm>
            <a:off x="6350000" y="2667000"/>
            <a:ext cx="45720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FFFFF"/>
                </a:solidFill>
                <a:latin typeface="Segoe UI" panose="020B0502040204020203" pitchFamily="34" charset="0"/>
              </a:rPr>
              <a:t>â€¢ Global Accuracy: 98.2%
â€¢ F1 Score: 0.965
â€¢ Kernel: RBF Gaussian
â€¢ Validation: 10-fold Cross Validation
All analytics processed locally on the edge.</a:t>
            </a:r>
          </a:p>
        </p:txBody>
      </p:sp>
    </p:spTree>
    <p:extLst>
      <p:ext uri="{BB962C8B-B14F-4D97-AF65-F5344CB8AC3E}">
        <p14:creationId xmlns:p14="http://schemas.microsoft.com/office/powerpoint/2010/main" val="2835370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ACCD6E-7629-5B03-891E-47D8B94EB7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5A1B3-623E-1FC5-FB17-8DAD61B54DE2}"/>
              </a:ext>
            </a:extLst>
          </p:cNvPr>
          <p:cNvSpPr txBox="1"/>
          <p:nvPr/>
        </p:nvSpPr>
        <p:spPr>
          <a:xfrm>
            <a:off x="635000" y="508000"/>
            <a:ext cx="1016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FFFFFF"/>
                </a:solidFill>
                <a:latin typeface="Segoe UI" panose="020B0502040204020203" pitchFamily="34" charset="0"/>
              </a:rPr>
              <a:t>NAVIGATION &amp; SPATIAL MAPPING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17E760-D62D-8683-03C5-6AAFCE5D7F48}"/>
              </a:ext>
            </a:extLst>
          </p:cNvPr>
          <p:cNvSpPr/>
          <p:nvPr/>
        </p:nvSpPr>
        <p:spPr>
          <a:xfrm>
            <a:off x="635000" y="1270000"/>
            <a:ext cx="1270000" cy="38100"/>
          </a:xfrm>
          <a:prstGeom prst="rect">
            <a:avLst/>
          </a:prstGeom>
          <a:solidFill>
            <a:srgbClr val="45A3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9726F-217C-5B07-FD86-B752E3BB3F04}"/>
              </a:ext>
            </a:extLst>
          </p:cNvPr>
          <p:cNvSpPr/>
          <p:nvPr/>
        </p:nvSpPr>
        <p:spPr>
          <a:xfrm>
            <a:off x="635000" y="1905000"/>
            <a:ext cx="2540000" cy="1270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9E7CE2-E86E-6163-FAC2-66AE7B3CF997}"/>
              </a:ext>
            </a:extLst>
          </p:cNvPr>
          <p:cNvSpPr txBox="1"/>
          <p:nvPr/>
        </p:nvSpPr>
        <p:spPr>
          <a:xfrm>
            <a:off x="762000" y="20320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45A3D4"/>
                </a:solidFill>
                <a:latin typeface="Segoe UI" panose="020B0502040204020203" pitchFamily="34" charset="0"/>
              </a:rPr>
              <a:t>Footprint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0E5915-ADCF-12FD-242D-C018B8A93015}"/>
              </a:ext>
            </a:extLst>
          </p:cNvPr>
          <p:cNvSpPr txBox="1"/>
          <p:nvPr/>
        </p:nvSpPr>
        <p:spPr>
          <a:xfrm>
            <a:off x="762000" y="2413000"/>
            <a:ext cx="22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50m x 50m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096C31-C74F-AA9B-B90D-00F3B0E3DBC4}"/>
              </a:ext>
            </a:extLst>
          </p:cNvPr>
          <p:cNvSpPr/>
          <p:nvPr/>
        </p:nvSpPr>
        <p:spPr>
          <a:xfrm>
            <a:off x="3429000" y="1905000"/>
            <a:ext cx="2540000" cy="1270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F69A24-2C55-9F6F-1BCA-BFFBC2F9A034}"/>
              </a:ext>
            </a:extLst>
          </p:cNvPr>
          <p:cNvSpPr txBox="1"/>
          <p:nvPr/>
        </p:nvSpPr>
        <p:spPr>
          <a:xfrm>
            <a:off x="3556000" y="20320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45A3D4"/>
                </a:solidFill>
                <a:latin typeface="Segoe UI" panose="020B0502040204020203" pitchFamily="34" charset="0"/>
              </a:rPr>
              <a:t>Lane Spacing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04240-D1AF-DDF6-CE4B-F8D3CDF4FD46}"/>
              </a:ext>
            </a:extLst>
          </p:cNvPr>
          <p:cNvSpPr txBox="1"/>
          <p:nvPr/>
        </p:nvSpPr>
        <p:spPr>
          <a:xfrm>
            <a:off x="3556000" y="2413000"/>
            <a:ext cx="22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5m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3A1B0-74A7-CBF5-002C-D2F99C5EC783}"/>
              </a:ext>
            </a:extLst>
          </p:cNvPr>
          <p:cNvSpPr/>
          <p:nvPr/>
        </p:nvSpPr>
        <p:spPr>
          <a:xfrm>
            <a:off x="6223000" y="1905000"/>
            <a:ext cx="2540000" cy="1270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D2ACB7-A5FA-F8F9-87BA-9770046BAD38}"/>
              </a:ext>
            </a:extLst>
          </p:cNvPr>
          <p:cNvSpPr txBox="1"/>
          <p:nvPr/>
        </p:nvSpPr>
        <p:spPr>
          <a:xfrm>
            <a:off x="6350000" y="20320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45A3D4"/>
                </a:solidFill>
                <a:latin typeface="Segoe UI" panose="020B0502040204020203" pitchFamily="34" charset="0"/>
              </a:rPr>
              <a:t>Sensor Radius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160331-BAC8-2954-BF57-EE8A80D932DC}"/>
              </a:ext>
            </a:extLst>
          </p:cNvPr>
          <p:cNvSpPr txBox="1"/>
          <p:nvPr/>
        </p:nvSpPr>
        <p:spPr>
          <a:xfrm>
            <a:off x="6350000" y="2413000"/>
            <a:ext cx="22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2m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3C2C26-3169-2270-BBFA-65BAA2870299}"/>
              </a:ext>
            </a:extLst>
          </p:cNvPr>
          <p:cNvSpPr/>
          <p:nvPr/>
        </p:nvSpPr>
        <p:spPr>
          <a:xfrm>
            <a:off x="9017000" y="1905000"/>
            <a:ext cx="2540000" cy="1270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985A6-7B16-F461-2FC8-98603FAB22B3}"/>
              </a:ext>
            </a:extLst>
          </p:cNvPr>
          <p:cNvSpPr txBox="1"/>
          <p:nvPr/>
        </p:nvSpPr>
        <p:spPr>
          <a:xfrm>
            <a:off x="9144000" y="20320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45A3D4"/>
                </a:solidFill>
                <a:latin typeface="Segoe UI" panose="020B0502040204020203" pitchFamily="34" charset="0"/>
              </a:rPr>
              <a:t>Hotspot Trigger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37C30-4CFB-285A-8129-6ABE6B3C2534}"/>
              </a:ext>
            </a:extLst>
          </p:cNvPr>
          <p:cNvSpPr txBox="1"/>
          <p:nvPr/>
        </p:nvSpPr>
        <p:spPr>
          <a:xfrm>
            <a:off x="9144000" y="2413000"/>
            <a:ext cx="2286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Segoe UI" panose="020B0502040204020203" pitchFamily="34" charset="0"/>
              </a:rPr>
              <a:t>Index &gt; 60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8D928F-A021-72CD-C4A3-28230BBC9D57}"/>
              </a:ext>
            </a:extLst>
          </p:cNvPr>
          <p:cNvSpPr txBox="1"/>
          <p:nvPr/>
        </p:nvSpPr>
        <p:spPr>
          <a:xfrm>
            <a:off x="635000" y="3810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45A3D4"/>
                </a:solidFill>
                <a:latin typeface="Segoe UI" panose="020B0502040204020203" pitchFamily="34" charset="0"/>
              </a:rPr>
              <a:t>Boustrophedon Sweep Mapping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180EB8-AFA1-965B-750E-9E0838184C76}"/>
              </a:ext>
            </a:extLst>
          </p:cNvPr>
          <p:cNvSpPr txBox="1"/>
          <p:nvPr/>
        </p:nvSpPr>
        <p:spPr>
          <a:xfrm>
            <a:off x="635000" y="4445000"/>
            <a:ext cx="1016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000">
                <a:solidFill>
                  <a:srgbClr val="FFFFFF"/>
                </a:solidFill>
                <a:latin typeface="Segoe UI" panose="020B0502040204020203" pitchFamily="34" charset="0"/>
              </a:rPr>
              <a:t>The vehicle systematically scans the water segment. When an anomaly index exceeds the trigger, a differential scan is initiated and a hotspot alert is transmitted via MQTT.</a:t>
            </a:r>
            <a:endParaRPr lang="en-IN" sz="20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49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010666-8FBF-B1AD-3210-D81B3DF789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3A268-627E-B14A-9E3A-6031B108DD4E}"/>
              </a:ext>
            </a:extLst>
          </p:cNvPr>
          <p:cNvSpPr txBox="1"/>
          <p:nvPr/>
        </p:nvSpPr>
        <p:spPr>
          <a:xfrm>
            <a:off x="635000" y="508000"/>
            <a:ext cx="1016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FFFFFF"/>
                </a:solidFill>
                <a:latin typeface="Segoe UI" panose="020B0502040204020203" pitchFamily="34" charset="0"/>
              </a:rPr>
              <a:t>STABILITY &amp; ENDURANCE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0A62D8-7A72-963B-6B0D-DE6A0F86868F}"/>
              </a:ext>
            </a:extLst>
          </p:cNvPr>
          <p:cNvSpPr/>
          <p:nvPr/>
        </p:nvSpPr>
        <p:spPr>
          <a:xfrm>
            <a:off x="635000" y="1270000"/>
            <a:ext cx="1270000" cy="38100"/>
          </a:xfrm>
          <a:prstGeom prst="rect">
            <a:avLst/>
          </a:prstGeom>
          <a:solidFill>
            <a:srgbClr val="45A3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1BFCE-74D7-188F-0D6C-6373AC562E64}"/>
              </a:ext>
            </a:extLst>
          </p:cNvPr>
          <p:cNvSpPr txBox="1"/>
          <p:nvPr/>
        </p:nvSpPr>
        <p:spPr>
          <a:xfrm>
            <a:off x="635000" y="1651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45A3D4"/>
                </a:solidFill>
                <a:latin typeface="Segoe UI" panose="020B0502040204020203" pitchFamily="34" charset="0"/>
              </a:rPr>
              <a:t>Catamaran vs Monohull Hydrodynamics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7A108B-448B-A647-C1D2-1E9CF4D19CDF}"/>
              </a:ext>
            </a:extLst>
          </p:cNvPr>
          <p:cNvSpPr/>
          <p:nvPr/>
        </p:nvSpPr>
        <p:spPr>
          <a:xfrm>
            <a:off x="635000" y="2286000"/>
            <a:ext cx="5080000" cy="2286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F00F66-3FC3-5105-1628-F5303B58EAA0}"/>
              </a:ext>
            </a:extLst>
          </p:cNvPr>
          <p:cNvSpPr txBox="1"/>
          <p:nvPr/>
        </p:nvSpPr>
        <p:spPr>
          <a:xfrm>
            <a:off x="889000" y="2413000"/>
            <a:ext cx="457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45A3D4"/>
                </a:solidFill>
                <a:latin typeface="Segoe UI" panose="020B0502040204020203" pitchFamily="34" charset="0"/>
              </a:rPr>
              <a:t>Catamaran (Selected)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C9F12B-EFD4-982B-441D-CDDDE9FDC02D}"/>
              </a:ext>
            </a:extLst>
          </p:cNvPr>
          <p:cNvSpPr txBox="1"/>
          <p:nvPr/>
        </p:nvSpPr>
        <p:spPr>
          <a:xfrm>
            <a:off x="889000" y="2921000"/>
            <a:ext cx="4572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FFFFFF"/>
                </a:solidFill>
                <a:latin typeface="Segoe UI" panose="020B0502040204020203" pitchFamily="34" charset="0"/>
              </a:rPr>
              <a:t>â€¢ Damping Ratio: 0.75
â€¢ Settling Time: 0.67s
â€¢ Overshoot: 2.8%
â€¢ Optical Uptime: 99.9%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5C1F2C-24F7-F8EB-2B67-501AD4FED4F7}"/>
              </a:ext>
            </a:extLst>
          </p:cNvPr>
          <p:cNvSpPr/>
          <p:nvPr/>
        </p:nvSpPr>
        <p:spPr>
          <a:xfrm>
            <a:off x="6096000" y="2286000"/>
            <a:ext cx="5080000" cy="2286000"/>
          </a:xfrm>
          <a:prstGeom prst="rect">
            <a:avLst/>
          </a:prstGeom>
          <a:solidFill>
            <a:srgbClr val="1E29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7D394-5FCD-F23C-672A-CC6716120A7A}"/>
              </a:ext>
            </a:extLst>
          </p:cNvPr>
          <p:cNvSpPr txBox="1"/>
          <p:nvPr/>
        </p:nvSpPr>
        <p:spPr>
          <a:xfrm>
            <a:off x="6350000" y="2413000"/>
            <a:ext cx="457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solidFill>
                  <a:srgbClr val="E1D5CB"/>
                </a:solidFill>
                <a:latin typeface="Segoe UI" panose="020B0502040204020203" pitchFamily="34" charset="0"/>
              </a:rPr>
              <a:t>Monohull (Rejected)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ADCD73-D422-0854-298F-D2A92EC397B1}"/>
              </a:ext>
            </a:extLst>
          </p:cNvPr>
          <p:cNvSpPr txBox="1"/>
          <p:nvPr/>
        </p:nvSpPr>
        <p:spPr>
          <a:xfrm>
            <a:off x="6350000" y="2921000"/>
            <a:ext cx="4572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>
                <a:solidFill>
                  <a:srgbClr val="E1D5CB"/>
                </a:solidFill>
                <a:latin typeface="Segoe UI" panose="020B0502040204020203" pitchFamily="34" charset="0"/>
              </a:rPr>
              <a:t>â€¢ Damping Ratio: 0.15
â€¢ Settling Time: 7.62s
â€¢ Overshoot: 62.1%
â€¢ Optical Uptime: ~48%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51071B-2081-2E7F-EB4C-FFC8416817BF}"/>
              </a:ext>
            </a:extLst>
          </p:cNvPr>
          <p:cNvSpPr txBox="1"/>
          <p:nvPr/>
        </p:nvSpPr>
        <p:spPr>
          <a:xfrm>
            <a:off x="635000" y="5080000"/>
            <a:ext cx="10160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000">
                <a:solidFill>
                  <a:srgbClr val="FFFFFF"/>
                </a:solidFill>
                <a:latin typeface="Segoe UI" panose="020B0502040204020203" pitchFamily="34" charset="0"/>
              </a:rPr>
              <a:t>Power Profile: 120+ minutes of endurance using smart phase-scheduled load distribution.</a:t>
            </a:r>
            <a:endParaRPr lang="en-IN" sz="20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5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F303A6-4995-D6EB-5594-5F2B113F5F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50063-ACC6-CAEC-DB7E-645F94DCAFBC}"/>
              </a:ext>
            </a:extLst>
          </p:cNvPr>
          <p:cNvSpPr txBox="1"/>
          <p:nvPr/>
        </p:nvSpPr>
        <p:spPr>
          <a:xfrm>
            <a:off x="635000" y="508000"/>
            <a:ext cx="1016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FFFFFF"/>
                </a:solidFill>
                <a:latin typeface="Segoe UI" panose="020B0502040204020203" pitchFamily="34" charset="0"/>
              </a:rPr>
              <a:t>REQUIREMENTS &amp; DISRUPTION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439D16-6997-94F4-8825-B5AE62B9BA63}"/>
              </a:ext>
            </a:extLst>
          </p:cNvPr>
          <p:cNvSpPr/>
          <p:nvPr/>
        </p:nvSpPr>
        <p:spPr>
          <a:xfrm>
            <a:off x="635000" y="1270000"/>
            <a:ext cx="1270000" cy="38100"/>
          </a:xfrm>
          <a:prstGeom prst="rect">
            <a:avLst/>
          </a:prstGeom>
          <a:solidFill>
            <a:srgbClr val="45A3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AEFE6-58DC-8C48-FEB4-A9ABD3D6C2BA}"/>
              </a:ext>
            </a:extLst>
          </p:cNvPr>
          <p:cNvSpPr txBox="1"/>
          <p:nvPr/>
        </p:nvSpPr>
        <p:spPr>
          <a:xfrm>
            <a:off x="635000" y="2286000"/>
            <a:ext cx="381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200" b="1">
                <a:solidFill>
                  <a:srgbClr val="FFFFFF"/>
                </a:solidFill>
                <a:latin typeface="Segoe UI" panose="020B0502040204020203" pitchFamily="34" charset="0"/>
              </a:rPr>
              <a:t>BOM Target: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76C95-13F0-B39A-149B-D91518417DBB}"/>
              </a:ext>
            </a:extLst>
          </p:cNvPr>
          <p:cNvSpPr txBox="1"/>
          <p:nvPr/>
        </p:nvSpPr>
        <p:spPr>
          <a:xfrm>
            <a:off x="3302000" y="2286000"/>
            <a:ext cx="5080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45A3D4"/>
                </a:solidFill>
                <a:latin typeface="Segoe UI" panose="020B0502040204020203" pitchFamily="34" charset="0"/>
              </a:rPr>
              <a:t>&lt; 15,000 INR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40D65-DF42-B9F9-2FFF-91AA652383C5}"/>
              </a:ext>
            </a:extLst>
          </p:cNvPr>
          <p:cNvSpPr txBox="1"/>
          <p:nvPr/>
        </p:nvSpPr>
        <p:spPr>
          <a:xfrm>
            <a:off x="635000" y="3302000"/>
            <a:ext cx="10160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>
                <a:solidFill>
                  <a:srgbClr val="FFFFFF"/>
                </a:solidFill>
                <a:latin typeface="Segoe UI" panose="020B0502040204020203" pitchFamily="34" charset="0"/>
              </a:rPr>
              <a:t>By leveraging the AS7265x multispectral array and edge AI, EcoFloat achieves the data granularity of ,000+ hyperspectral drones at a fraction of the cost.</a:t>
            </a:r>
            <a:endParaRPr lang="en-IN" sz="2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4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0C14F2-BAE8-1059-879C-E44D310DB8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8BE45-D840-1DC1-7252-19C0655B5C24}"/>
              </a:ext>
            </a:extLst>
          </p:cNvPr>
          <p:cNvSpPr txBox="1"/>
          <p:nvPr/>
        </p:nvSpPr>
        <p:spPr>
          <a:xfrm>
            <a:off x="1270000" y="2540000"/>
            <a:ext cx="10160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7200" b="1">
                <a:solidFill>
                  <a:srgbClr val="FFFFFF"/>
                </a:solidFill>
                <a:latin typeface="Segoe UI" panose="020B0502040204020203" pitchFamily="34" charset="0"/>
              </a:rPr>
              <a:t>ECO-FLOAT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B1C45-3AC9-AE9B-EFCD-316E678E1CFF}"/>
              </a:ext>
            </a:extLst>
          </p:cNvPr>
          <p:cNvSpPr txBox="1"/>
          <p:nvPr/>
        </p:nvSpPr>
        <p:spPr>
          <a:xfrm>
            <a:off x="1270000" y="3810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400">
                <a:solidFill>
                  <a:srgbClr val="45A3D4"/>
                </a:solidFill>
                <a:latin typeface="Segoe UI" panose="020B0502040204020203" pitchFamily="34" charset="0"/>
              </a:rPr>
              <a:t>Accessible. Autonomous. Essential.</a:t>
            </a:r>
          </a:p>
        </p:txBody>
      </p:sp>
    </p:spTree>
    <p:extLst>
      <p:ext uri="{BB962C8B-B14F-4D97-AF65-F5344CB8AC3E}">
        <p14:creationId xmlns:p14="http://schemas.microsoft.com/office/powerpoint/2010/main" val="1111742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</Words>
  <Application>Microsoft Office PowerPoint</Application>
  <PresentationFormat>Custom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Nandhakumar G</dc:creator>
  <cp:lastModifiedBy>Nandhakumar G</cp:lastModifiedBy>
  <cp:revision>1</cp:revision>
  <dcterms:created xsi:type="dcterms:W3CDTF">2026-04-22T14:39:09Z</dcterms:created>
  <dcterms:modified xsi:type="dcterms:W3CDTF">2026-04-22T14:39:09Z</dcterms:modified>
</cp:coreProperties>
</file>