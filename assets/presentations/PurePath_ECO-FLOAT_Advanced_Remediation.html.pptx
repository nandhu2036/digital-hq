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Inter"/>
      <p:regular r:id="rId19"/>
      <p:bold r:id="rId20"/>
      <p:italic r:id="rId21"/>
      <p:boldItalic r:id="rId22"/>
    </p:embeddedFont>
    <p:embeddedFont>
      <p:font typeface="Urbanist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494BBDC-2010-4DFA-8234-C34F1CA774D9}">
  <a:tblStyle styleId="{B494BBDC-2010-4DFA-8234-C34F1CA774D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22" Type="http://schemas.openxmlformats.org/officeDocument/2006/relationships/font" Target="fonts/Inter-boldItalic.fntdata"/><Relationship Id="rId21" Type="http://schemas.openxmlformats.org/officeDocument/2006/relationships/font" Target="fonts/Inter-italic.fntdata"/><Relationship Id="rId24" Type="http://schemas.openxmlformats.org/officeDocument/2006/relationships/font" Target="fonts/Urbanist-bold.fntdata"/><Relationship Id="rId23" Type="http://schemas.openxmlformats.org/officeDocument/2006/relationships/font" Target="fonts/Urbanis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-boldItalic.fntdata"/><Relationship Id="rId25" Type="http://schemas.openxmlformats.org/officeDocument/2006/relationships/font" Target="fonts/Urbanist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Inter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13.png"/><Relationship Id="rId8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image" Target="../media/image3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image" Target="../media/image7.png"/><Relationship Id="rId6" Type="http://schemas.openxmlformats.org/officeDocument/2006/relationships/image" Target="../media/image20.png"/><Relationship Id="rId7" Type="http://schemas.openxmlformats.org/officeDocument/2006/relationships/image" Target="../media/image3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12.png"/><Relationship Id="rId6" Type="http://schemas.openxmlformats.org/officeDocument/2006/relationships/image" Target="../media/image15.png"/><Relationship Id="rId7" Type="http://schemas.openxmlformats.org/officeDocument/2006/relationships/image" Target="../media/image14.png"/><Relationship Id="rId8" Type="http://schemas.openxmlformats.org/officeDocument/2006/relationships/image" Target="../media/image3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27.png"/><Relationship Id="rId8" Type="http://schemas.openxmlformats.org/officeDocument/2006/relationships/image" Target="../media/image2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28.png"/><Relationship Id="rId6" Type="http://schemas.openxmlformats.org/officeDocument/2006/relationships/image" Target="../media/image26.png"/><Relationship Id="rId7" Type="http://schemas.openxmlformats.org/officeDocument/2006/relationships/image" Target="../media/image21.png"/><Relationship Id="rId8" Type="http://schemas.openxmlformats.org/officeDocument/2006/relationships/image" Target="../media/image2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25.png"/><Relationship Id="rId5" Type="http://schemas.openxmlformats.org/officeDocument/2006/relationships/image" Target="../media/image23.png"/><Relationship Id="rId6" Type="http://schemas.openxmlformats.org/officeDocument/2006/relationships/image" Target="../media/image33.png"/><Relationship Id="rId7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4300775" y="2352675"/>
            <a:ext cx="359044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5EEAD4"/>
                </a:solidFill>
                <a:latin typeface="Urbanist"/>
                <a:ea typeface="Urbanist"/>
                <a:cs typeface="Urbanist"/>
                <a:sym typeface="Urbanist"/>
              </a:rPr>
              <a:t>PUREPATH PRESENTS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940730" y="2790825"/>
            <a:ext cx="4310538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ECO-FLOAT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286000" y="3819525"/>
            <a:ext cx="7620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Advanced Remediation for Stagnant Water: Solving the Invisible Crisis through Robotic Intelligence and Chemical Retreatment.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847850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71500" y="1966912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5EEAD4"/>
                </a:solidFill>
                <a:latin typeface="Urbanist"/>
                <a:ea typeface="Urbanist"/>
                <a:cs typeface="Urbanist"/>
                <a:sym typeface="Urbanist"/>
              </a:rPr>
              <a:t>Treating Symptoms, Not Causes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2405062"/>
            <a:ext cx="52863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Most cleanups only target surface trash, leaving toxic chemical runoff and dense algal blooms to poison the ecosystem.</a:t>
            </a:r>
            <a:endParaRPr/>
          </a:p>
        </p:txBody>
      </p:sp>
      <p:pic>
        <p:nvPicPr>
          <p:cNvPr descr="image.png" id="96" name="Google Shape;96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857375"/>
            <a:ext cx="5267325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952500" y="3500437"/>
            <a:ext cx="4905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Blind Operations: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Current efforts ignore invisible toxic plumes.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52500" y="4243387"/>
            <a:ext cx="4905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Reactive Dredging: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Manual crews only respond after contamination peaks.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952500" y="4986337"/>
            <a:ext cx="4905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Toxic Overload: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Algal blooms go undetected until they become toxic.</a:t>
            </a:r>
            <a:endParaRPr/>
          </a:p>
        </p:txBody>
      </p:sp>
      <p:pic>
        <p:nvPicPr>
          <p:cNvPr descr="image.png" id="100" name="Google Shape;10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54330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28625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029200"/>
            <a:ext cx="23812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5EEAD4"/>
                </a:solidFill>
                <a:latin typeface="Urbanist"/>
                <a:ea typeface="Urbanist"/>
                <a:cs typeface="Urbanist"/>
                <a:sym typeface="Urbanist"/>
              </a:rPr>
              <a:t>THE STAGNANT WATER CRISIS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8" name="Google Shape;1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43137"/>
            <a:ext cx="3524250" cy="3209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3875" y="2243137"/>
            <a:ext cx="3524250" cy="3209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6250" y="2243137"/>
            <a:ext cx="3524250" cy="3209925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914400" y="3243262"/>
            <a:ext cx="298037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5EEAD4"/>
                </a:solidFill>
                <a:latin typeface="Urbanist"/>
                <a:ea typeface="Urbanist"/>
                <a:cs typeface="Urbanist"/>
                <a:sym typeface="Urbanist"/>
              </a:rPr>
              <a:t>Prohibitive Costs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914400" y="3681412"/>
            <a:ext cx="283845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Commercial buoys cost upwards of ₹50 Lakhs, making them inaccessible for small municipal ponds and local lakes.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4676775" y="3243262"/>
            <a:ext cx="298037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5EEAD4"/>
                </a:solidFill>
                <a:latin typeface="Urbanist"/>
                <a:ea typeface="Urbanist"/>
                <a:cs typeface="Urbanist"/>
                <a:sym typeface="Urbanist"/>
              </a:rPr>
              <a:t>Lack of Autonomy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4676775" y="3681412"/>
            <a:ext cx="283845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Standard boats require constant human pilots, significantly increasing OPEX and safety risks in polluted waters.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8439150" y="3243262"/>
            <a:ext cx="298037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5EEAD4"/>
                </a:solidFill>
                <a:latin typeface="Urbanist"/>
                <a:ea typeface="Urbanist"/>
                <a:cs typeface="Urbanist"/>
                <a:sym typeface="Urbanist"/>
              </a:rPr>
              <a:t>Coarse Resolution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439150" y="3681412"/>
            <a:ext cx="2838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Satellite data is too low-resolution (1km) to manage localized contamination in river edges or small water bodies.</a:t>
            </a:r>
            <a:endParaRPr/>
          </a:p>
        </p:txBody>
      </p:sp>
      <p:pic>
        <p:nvPicPr>
          <p:cNvPr descr="image.png" id="118" name="Google Shape;118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4400" y="262413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76775" y="2624137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39150" y="2624137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5EEAD4"/>
                </a:solidFill>
                <a:latin typeface="Urbanist"/>
                <a:ea typeface="Urbanist"/>
                <a:cs typeface="Urbanist"/>
                <a:sym typeface="Urbanist"/>
              </a:rPr>
              <a:t>THE EXISTING TECHNOLOGY GAP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6" name="Google Shape;12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/>
        </p:nvSpPr>
        <p:spPr>
          <a:xfrm>
            <a:off x="571500" y="1633537"/>
            <a:ext cx="52006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5EEAD4"/>
                </a:solidFill>
                <a:latin typeface="Urbanist"/>
                <a:ea typeface="Urbanist"/>
                <a:cs typeface="Urbanist"/>
                <a:sym typeface="Urbanist"/>
              </a:rPr>
              <a:t>THE SOLUTION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571500" y="2471737"/>
            <a:ext cx="52006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5EEAD4"/>
                </a:solidFill>
                <a:latin typeface="Urbanist"/>
                <a:ea typeface="Urbanist"/>
                <a:cs typeface="Urbanist"/>
                <a:sym typeface="Urbanist"/>
              </a:rPr>
              <a:t>Autonomous Physical Remediation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571500" y="2909887"/>
            <a:ext cx="4953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ECO-FLOAT is a solar-powered rover engineered specifically for stagnant water environments. It bridges the gap between sensing and action.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952500" y="3910012"/>
            <a:ext cx="457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Active Net Collection: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 specialized rear-mounted net system continuously sweeps and harvests macro-plastics and thick chlorophyll biomass (algae) as the rover navigates.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5" name="Google Shape;13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43137"/>
            <a:ext cx="3524250" cy="3209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3875" y="2243137"/>
            <a:ext cx="3524250" cy="3209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6250" y="2243137"/>
            <a:ext cx="3524250" cy="32099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/>
        </p:nvSpPr>
        <p:spPr>
          <a:xfrm>
            <a:off x="914400" y="3243262"/>
            <a:ext cx="298037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5EEAD4"/>
                </a:solidFill>
                <a:latin typeface="Urbanist"/>
                <a:ea typeface="Urbanist"/>
                <a:cs typeface="Urbanist"/>
                <a:sym typeface="Urbanist"/>
              </a:rPr>
              <a:t>ROS Autonomy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914400" y="3681412"/>
            <a:ext cx="283845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Utilizes Robot Operating System for precise GPS waypoint navigation and obstacle avoidance in complex environments.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4676775" y="3243262"/>
            <a:ext cx="298037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5EEAD4"/>
                </a:solidFill>
                <a:latin typeface="Urbanist"/>
                <a:ea typeface="Urbanist"/>
                <a:cs typeface="Urbanist"/>
                <a:sym typeface="Urbanist"/>
              </a:rPr>
              <a:t>Hyperspectral Data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4676775" y="3681412"/>
            <a:ext cx="2838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Radiometric sensors analyze light signatures to identify exact chlorophyll levels and micro-plastic concentrations.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8439150" y="3243262"/>
            <a:ext cx="298037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5EEAD4"/>
                </a:solidFill>
                <a:latin typeface="Urbanist"/>
                <a:ea typeface="Urbanist"/>
                <a:cs typeface="Urbanist"/>
                <a:sym typeface="Urbanist"/>
              </a:rPr>
              <a:t>Live Mapping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8439150" y="3681412"/>
            <a:ext cx="283845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Integrated IoT sensors feed real-time water quality heatmaps to a cloud dashboard for municipal oversight.</a:t>
            </a:r>
            <a:endParaRPr/>
          </a:p>
        </p:txBody>
      </p:sp>
      <p:pic>
        <p:nvPicPr>
          <p:cNvPr descr="image.png" id="145" name="Google Shape;145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4400" y="262413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76775" y="2624137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39150" y="2624137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7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5EEAD4"/>
                </a:solidFill>
                <a:latin typeface="Urbanist"/>
                <a:ea typeface="Urbanist"/>
                <a:cs typeface="Urbanist"/>
                <a:sym typeface="Urbanist"/>
              </a:rPr>
              <a:t>INTELLIGENT NAVIGATION STACK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847850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571500" y="1990725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5EEAD4"/>
                </a:solidFill>
                <a:latin typeface="Urbanist"/>
                <a:ea typeface="Urbanist"/>
                <a:cs typeface="Urbanist"/>
                <a:sym typeface="Urbanist"/>
              </a:rPr>
              <a:t>Neutralizing the Invisible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571500" y="2428875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Beyond physical trash, ECO-FLOAT addresses invisible chemical pollutants that manual dredging ignores.</a:t>
            </a:r>
            <a:endParaRPr/>
          </a:p>
        </p:txBody>
      </p:sp>
      <p:pic>
        <p:nvPicPr>
          <p:cNvPr descr="image.png" id="157" name="Google Shape;15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857375"/>
            <a:ext cx="5267325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952500" y="3190875"/>
            <a:ext cx="4905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Real-Time Sensing: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Electrochemical probes monitor pH, Dissolved Oxygen (DO), and Turbidity.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952500" y="3933825"/>
            <a:ext cx="4905375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Plume Neutralization: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Active detection of chemical plumes allows for targeted remediation and immediate alerting.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952500" y="4962525"/>
            <a:ext cx="4905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WQI Generation: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Compiles a comprehensive Water Quality Index to track remediation progress.</a:t>
            </a:r>
            <a:endParaRPr/>
          </a:p>
        </p:txBody>
      </p:sp>
      <p:pic>
        <p:nvPicPr>
          <p:cNvPr descr="image.png" id="161" name="Google Shape;161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23373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976687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005387"/>
            <a:ext cx="18097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5EEAD4"/>
                </a:solidFill>
                <a:latin typeface="Urbanist"/>
                <a:ea typeface="Urbanist"/>
                <a:cs typeface="Urbanist"/>
                <a:sym typeface="Urbanist"/>
              </a:rPr>
              <a:t>CHEMICAL RETREATMENT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9" name="Google Shape;16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81225"/>
            <a:ext cx="441960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1" name="Google Shape;171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190750"/>
            <a:ext cx="4400550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9"/>
          <p:cNvSpPr txBox="1"/>
          <p:nvPr/>
        </p:nvSpPr>
        <p:spPr>
          <a:xfrm>
            <a:off x="5467350" y="2514600"/>
            <a:ext cx="67246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5EEAD4"/>
                </a:solidFill>
                <a:latin typeface="Urbanist"/>
                <a:ea typeface="Urbanist"/>
                <a:cs typeface="Urbanist"/>
                <a:sym typeface="Urbanist"/>
              </a:rPr>
              <a:t>Dawn-to-Dusk Operations</a:t>
            </a:r>
            <a:endParaRPr/>
          </a:p>
        </p:txBody>
      </p:sp>
      <p:sp>
        <p:nvSpPr>
          <p:cNvPr id="173" name="Google Shape;173;p19"/>
          <p:cNvSpPr txBox="1"/>
          <p:nvPr/>
        </p:nvSpPr>
        <p:spPr>
          <a:xfrm>
            <a:off x="5848350" y="2952750"/>
            <a:ext cx="6248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Solar Integrated Roof: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Continuous trickle charging enables extended battery life for all-day navigation.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5848350" y="3695700"/>
            <a:ext cx="6248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Corrosion-Proof: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Modular, lightweight, and corrosion-resistant materials for toxic, stagnant water.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5848350" y="4438650"/>
            <a:ext cx="62484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Swarm Deployment: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Low-cost BOM (&lt; ₹20,000) allows for multiple rovers to coordinate in large stagnant lakes.</a:t>
            </a:r>
            <a:endParaRPr/>
          </a:p>
        </p:txBody>
      </p:sp>
      <p:pic>
        <p:nvPicPr>
          <p:cNvPr descr="image.png" id="176" name="Google Shape;176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467350" y="299561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467350" y="373856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8" name="Google Shape;178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67350" y="4481512"/>
            <a:ext cx="23812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9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5EEAD4"/>
                </a:solidFill>
                <a:latin typeface="Urbanist"/>
                <a:ea typeface="Urbanist"/>
                <a:cs typeface="Urbanist"/>
                <a:sym typeface="Urbanist"/>
              </a:rPr>
              <a:t>SUSTAINABLE ENDURANCE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4" name="Google Shape;18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/>
          <p:nvPr/>
        </p:nvSpPr>
        <p:spPr>
          <a:xfrm>
            <a:off x="571500" y="3133725"/>
            <a:ext cx="386715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0" u="none" cap="none" strike="noStrike">
                <a:solidFill>
                  <a:srgbClr val="14B8A6"/>
                </a:solidFill>
                <a:latin typeface="Inter"/>
                <a:ea typeface="Inter"/>
                <a:cs typeface="Inter"/>
                <a:sym typeface="Inter"/>
              </a:rPr>
              <a:t>100x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4819650" y="2962275"/>
            <a:ext cx="7372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5EEAD4"/>
                </a:solidFill>
                <a:latin typeface="Urbanist"/>
                <a:ea typeface="Urbanist"/>
                <a:cs typeface="Urbanist"/>
                <a:sym typeface="Urbanist"/>
              </a:rPr>
              <a:t>Hyper-Local Resolution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4819650" y="3400425"/>
            <a:ext cx="71818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ECO-FLOAT provides sub-100m² resolution, identifying pollution sources with 100 times more precision than satellite imaging.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4819650" y="4162425"/>
            <a:ext cx="71818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By detecting "hotspots" of chemical runoff and algal biomass, authorities can act before the entire stagnant water body becomes toxic.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5EEAD4"/>
                </a:solidFill>
                <a:latin typeface="Urbanist"/>
                <a:ea typeface="Urbanist"/>
                <a:cs typeface="Urbanist"/>
                <a:sym typeface="Urbanist"/>
              </a:rPr>
              <a:t>UNMATCHED DATA PRECISION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4" name="Google Shape;19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5" name="Google Shape;195;p21"/>
          <p:cNvGraphicFramePr/>
          <p:nvPr/>
        </p:nvGraphicFramePr>
        <p:xfrm>
          <a:off x="571500" y="24765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{B494BBDC-2010-4DFA-8234-C34F1CA774D9}</a:tableStyleId>
              </a:tblPr>
              <a:tblGrid>
                <a:gridCol w="2452250"/>
                <a:gridCol w="2562375"/>
                <a:gridCol w="2438400"/>
                <a:gridCol w="1956200"/>
                <a:gridCol w="1639800"/>
              </a:tblGrid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2061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Solution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2061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Physical Collection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2061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Chemical Sensing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2061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Resolution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B8A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020617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B8A6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Satellites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Limited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 km (Coarse)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Manual Labor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Reactive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Visible Only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Recurring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Commercial Buoys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Stationary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F8FAFC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₹50 Lakh+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5EEAD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ECO-FLOAT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EE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5EEAD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Autonomous Net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EE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5EEAD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Real-Time Probes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EE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5EEAD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Sub-100m²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EEAD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5EEAD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&lt; ₹20,000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5EEAD4"/>
                    </a:solidFill>
                  </a:tcPr>
                </a:tc>
              </a:tr>
            </a:tbl>
          </a:graphicData>
        </a:graphic>
      </p:graphicFrame>
      <p:sp>
        <p:nvSpPr>
          <p:cNvPr id="196" name="Google Shape;196;p21"/>
          <p:cNvSpPr/>
          <p:nvPr/>
        </p:nvSpPr>
        <p:spPr>
          <a:xfrm>
            <a:off x="571500" y="3576637"/>
            <a:ext cx="2452241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1"/>
          <p:cNvSpPr/>
          <p:nvPr/>
        </p:nvSpPr>
        <p:spPr>
          <a:xfrm>
            <a:off x="3023741" y="3576637"/>
            <a:ext cx="2562373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5586114" y="3576637"/>
            <a:ext cx="243840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8024514" y="3576637"/>
            <a:ext cx="1956196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9980711" y="3576637"/>
            <a:ext cx="1639788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571500" y="4119562"/>
            <a:ext cx="2452241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3023741" y="4119562"/>
            <a:ext cx="2562373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5586114" y="4119562"/>
            <a:ext cx="243840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8024514" y="4119562"/>
            <a:ext cx="1956196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9980711" y="4119562"/>
            <a:ext cx="1639788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571500" y="4662487"/>
            <a:ext cx="2452241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3023741" y="4662487"/>
            <a:ext cx="2562373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5586114" y="4662487"/>
            <a:ext cx="243840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/>
          <p:nvPr/>
        </p:nvSpPr>
        <p:spPr>
          <a:xfrm>
            <a:off x="8024514" y="4662487"/>
            <a:ext cx="1956196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9980711" y="4662487"/>
            <a:ext cx="1639788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571500" y="5205412"/>
            <a:ext cx="2452241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3023741" y="5205412"/>
            <a:ext cx="2562373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/>
          <p:nvPr/>
        </p:nvSpPr>
        <p:spPr>
          <a:xfrm>
            <a:off x="5586114" y="5205412"/>
            <a:ext cx="243840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/>
          <p:nvPr/>
        </p:nvSpPr>
        <p:spPr>
          <a:xfrm>
            <a:off x="8024514" y="5205412"/>
            <a:ext cx="1956196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1"/>
          <p:cNvSpPr/>
          <p:nvPr/>
        </p:nvSpPr>
        <p:spPr>
          <a:xfrm>
            <a:off x="9980711" y="5205412"/>
            <a:ext cx="1639788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5EEAD4"/>
                </a:solidFill>
                <a:latin typeface="Urbanist"/>
                <a:ea typeface="Urbanist"/>
                <a:cs typeface="Urbanist"/>
                <a:sym typeface="Urbanist"/>
              </a:rPr>
              <a:t>MARKET ANALYSIS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1" name="Google Shape;22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847850"/>
            <a:ext cx="5286375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2"/>
          <p:cNvSpPr txBox="1"/>
          <p:nvPr/>
        </p:nvSpPr>
        <p:spPr>
          <a:xfrm>
            <a:off x="571500" y="2133600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5EEAD4"/>
                </a:solidFill>
                <a:latin typeface="Urbanist"/>
                <a:ea typeface="Urbanist"/>
                <a:cs typeface="Urbanist"/>
                <a:sym typeface="Urbanist"/>
              </a:rPr>
              <a:t>Empowering "Green Leaders"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571500" y="2571750"/>
            <a:ext cx="5286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Transition from manual, blind operations to cost-effective, Industry 4.0 data-driven remediation.</a:t>
            </a:r>
            <a:endParaRPr/>
          </a:p>
        </p:txBody>
      </p:sp>
      <p:pic>
        <p:nvPicPr>
          <p:cNvPr descr="image.png" id="225" name="Google Shape;225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857375"/>
            <a:ext cx="5267325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2"/>
          <p:cNvSpPr txBox="1"/>
          <p:nvPr/>
        </p:nvSpPr>
        <p:spPr>
          <a:xfrm>
            <a:off x="952500" y="3333750"/>
            <a:ext cx="4905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Public Health: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Prevents community poisoning from toxic stagnant runoff.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952500" y="4076700"/>
            <a:ext cx="4905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Municipal Innovation: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Sets the standard for Smart City aquatic management.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952500" y="4819650"/>
            <a:ext cx="4905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Budget Efficiency: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Replaces expensive dredging with autonomous, low-cost rovers.</a:t>
            </a:r>
            <a:endParaRPr/>
          </a:p>
        </p:txBody>
      </p:sp>
      <p:pic>
        <p:nvPicPr>
          <p:cNvPr descr="image.png" id="229" name="Google Shape;229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376612"/>
            <a:ext cx="2381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119562"/>
            <a:ext cx="26670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862512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2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5EEAD4"/>
                </a:solidFill>
                <a:latin typeface="Urbanist"/>
                <a:ea typeface="Urbanist"/>
                <a:cs typeface="Urbanist"/>
                <a:sym typeface="Urbanist"/>
              </a:rPr>
              <a:t>IMPACT ON STAKEHOLDERS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7" name="Google Shape;23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8" name="Google Shape;23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8000" y="3881437"/>
            <a:ext cx="2857500" cy="1247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3881437"/>
            <a:ext cx="2857500" cy="1247775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3"/>
          <p:cNvSpPr txBox="1"/>
          <p:nvPr/>
        </p:nvSpPr>
        <p:spPr>
          <a:xfrm>
            <a:off x="295275" y="1728787"/>
            <a:ext cx="1160145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5EEAD4"/>
                </a:solidFill>
                <a:latin typeface="Urbanist"/>
                <a:ea typeface="Urbanist"/>
                <a:cs typeface="Urbanist"/>
                <a:sym typeface="Urbanist"/>
              </a:rPr>
              <a:t>Questions?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2776537" y="3157537"/>
            <a:ext cx="66389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Join us in democratizing advanced water quality remediation.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3248025" y="4643437"/>
            <a:ext cx="24574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contact@purepath.eco</a:t>
            </a:r>
            <a:endParaRPr/>
          </a:p>
        </p:txBody>
      </p:sp>
      <p:sp>
        <p:nvSpPr>
          <p:cNvPr id="243" name="Google Shape;243;p23"/>
          <p:cNvSpPr txBox="1"/>
          <p:nvPr/>
        </p:nvSpPr>
        <p:spPr>
          <a:xfrm>
            <a:off x="6486525" y="4643437"/>
            <a:ext cx="24574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www.purepath.eco</a:t>
            </a:r>
            <a:endParaRPr/>
          </a:p>
        </p:txBody>
      </p:sp>
      <p:pic>
        <p:nvPicPr>
          <p:cNvPr descr="image.png" id="244" name="Google Shape;244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6250" y="41195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24750" y="4119562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0" name="Google Shape;250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4"/>
          <p:cNvSpPr/>
          <p:nvPr/>
        </p:nvSpPr>
        <p:spPr>
          <a:xfrm>
            <a:off x="571500" y="2309812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4"/>
          <p:cNvSpPr/>
          <p:nvPr/>
        </p:nvSpPr>
        <p:spPr>
          <a:xfrm>
            <a:off x="571500" y="3081337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4"/>
          <p:cNvSpPr/>
          <p:nvPr/>
        </p:nvSpPr>
        <p:spPr>
          <a:xfrm>
            <a:off x="571500" y="3852862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4"/>
          <p:cNvSpPr/>
          <p:nvPr/>
        </p:nvSpPr>
        <p:spPr>
          <a:xfrm>
            <a:off x="571500" y="30718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4"/>
          <p:cNvSpPr/>
          <p:nvPr/>
        </p:nvSpPr>
        <p:spPr>
          <a:xfrm>
            <a:off x="571500" y="30718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4"/>
          <p:cNvSpPr/>
          <p:nvPr/>
        </p:nvSpPr>
        <p:spPr>
          <a:xfrm>
            <a:off x="571500" y="38433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4"/>
          <p:cNvSpPr/>
          <p:nvPr/>
        </p:nvSpPr>
        <p:spPr>
          <a:xfrm>
            <a:off x="571500" y="38433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4"/>
          <p:cNvSpPr/>
          <p:nvPr/>
        </p:nvSpPr>
        <p:spPr>
          <a:xfrm>
            <a:off x="571500" y="46148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4"/>
          <p:cNvSpPr/>
          <p:nvPr/>
        </p:nvSpPr>
        <p:spPr>
          <a:xfrm>
            <a:off x="571500" y="46148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0" name="Google Shape;26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52687"/>
            <a:ext cx="157162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4"/>
          <p:cNvSpPr txBox="1"/>
          <p:nvPr/>
        </p:nvSpPr>
        <p:spPr>
          <a:xfrm>
            <a:off x="1666875" y="245983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https://cleanwaterpro.ca/wp-content/uploads/2022/09/eutrophic-blog-3.jpg</a:t>
            </a:r>
            <a:endParaRPr/>
          </a:p>
        </p:txBody>
      </p:sp>
      <p:sp>
        <p:nvSpPr>
          <p:cNvPr id="262" name="Google Shape;262;p24"/>
          <p:cNvSpPr txBox="1"/>
          <p:nvPr/>
        </p:nvSpPr>
        <p:spPr>
          <a:xfrm>
            <a:off x="1666875" y="2693193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cleanwaterpro.ca</a:t>
            </a:r>
            <a:endParaRPr/>
          </a:p>
        </p:txBody>
      </p:sp>
      <p:pic>
        <p:nvPicPr>
          <p:cNvPr descr="image.png" id="263" name="Google Shape;263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2242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24"/>
          <p:cNvSpPr txBox="1"/>
          <p:nvPr/>
        </p:nvSpPr>
        <p:spPr>
          <a:xfrm>
            <a:off x="1666875" y="323135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https://image.made-in-china.com/2f0j00vyqiwmFlpWrI/Water-Cleaning-Boat-Unmanned-Control-Robot-Water-Surface-Cleaning-Boat.jpg</a:t>
            </a:r>
            <a:endParaRPr/>
          </a:p>
        </p:txBody>
      </p:sp>
      <p:sp>
        <p:nvSpPr>
          <p:cNvPr id="265" name="Google Shape;265;p24"/>
          <p:cNvSpPr txBox="1"/>
          <p:nvPr/>
        </p:nvSpPr>
        <p:spPr>
          <a:xfrm>
            <a:off x="1666875" y="3464718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relong-tech.en.made-in-china.com</a:t>
            </a:r>
            <a:endParaRPr/>
          </a:p>
        </p:txBody>
      </p:sp>
      <p:pic>
        <p:nvPicPr>
          <p:cNvPr descr="image.png" id="266" name="Google Shape;266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9957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4"/>
          <p:cNvSpPr txBox="1"/>
          <p:nvPr/>
        </p:nvSpPr>
        <p:spPr>
          <a:xfrm>
            <a:off x="1666875" y="400288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https://image.made-in-china.com/2f0j00GMdCRHYBgfoP/ISE-Cl-Sensors-in-Chemical-Production-Probe-Electrode-Digital-Water-Quality-Monitoring-CA43-D014-.jpg</a:t>
            </a:r>
            <a:endParaRPr/>
          </a:p>
        </p:txBody>
      </p:sp>
      <p:sp>
        <p:nvSpPr>
          <p:cNvPr id="268" name="Google Shape;268;p24"/>
          <p:cNvSpPr txBox="1"/>
          <p:nvPr/>
        </p:nvSpPr>
        <p:spPr>
          <a:xfrm>
            <a:off x="1666875" y="4236243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aurora-sensors.en.made-in-china.com</a:t>
            </a:r>
            <a:endParaRPr/>
          </a:p>
        </p:txBody>
      </p:sp>
      <p:pic>
        <p:nvPicPr>
          <p:cNvPr descr="image.png" id="269" name="Google Shape;269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7672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4"/>
          <p:cNvSpPr txBox="1"/>
          <p:nvPr/>
        </p:nvSpPr>
        <p:spPr>
          <a:xfrm>
            <a:off x="1666875" y="477440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https://www.slidekit.com/wp-content/uploads/2025/07/Smart-City-Monitoring-Dashboard-Slide-for-PowerPoint-Google-Slides.jpg</a:t>
            </a:r>
            <a:endParaRPr/>
          </a:p>
        </p:txBody>
      </p:sp>
      <p:sp>
        <p:nvSpPr>
          <p:cNvPr id="271" name="Google Shape;271;p24"/>
          <p:cNvSpPr txBox="1"/>
          <p:nvPr/>
        </p:nvSpPr>
        <p:spPr>
          <a:xfrm>
            <a:off x="1666875" y="5007768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Inter"/>
                <a:ea typeface="Inter"/>
                <a:cs typeface="Inter"/>
                <a:sym typeface="Inter"/>
              </a:rPr>
              <a:t>www.slidekit.com</a:t>
            </a:r>
            <a:endParaRPr/>
          </a:p>
        </p:txBody>
      </p:sp>
      <p:sp>
        <p:nvSpPr>
          <p:cNvPr id="272" name="Google Shape;272;p24"/>
          <p:cNvSpPr txBox="1"/>
          <p:nvPr/>
        </p:nvSpPr>
        <p:spPr>
          <a:xfrm>
            <a:off x="571500" y="571500"/>
            <a:ext cx="11601450" cy="504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5EEAD4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